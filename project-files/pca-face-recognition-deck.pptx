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81" r:id="rId5"/>
    <p:sldId id="284" r:id="rId6"/>
    <p:sldId id="279" r:id="rId7"/>
    <p:sldId id="280" r:id="rId8"/>
    <p:sldId id="295" r:id="rId9"/>
    <p:sldId id="297" r:id="rId10"/>
    <p:sldId id="296" r:id="rId11"/>
    <p:sldId id="298" r:id="rId12"/>
    <p:sldId id="300" r:id="rId13"/>
    <p:sldId id="299" r:id="rId14"/>
    <p:sldId id="282" r:id="rId15"/>
    <p:sldId id="273" r:id="rId16"/>
    <p:sldId id="294" r:id="rId17"/>
    <p:sldId id="265" r:id="rId18"/>
    <p:sldId id="268" r:id="rId19"/>
    <p:sldId id="293" r:id="rId20"/>
    <p:sldId id="266" r:id="rId21"/>
    <p:sldId id="29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85" autoAdjust="0"/>
    <p:restoredTop sz="94885" autoAdjust="0"/>
  </p:normalViewPr>
  <p:slideViewPr>
    <p:cSldViewPr snapToGrid="0">
      <p:cViewPr varScale="1">
        <p:scale>
          <a:sx n="84" d="100"/>
          <a:sy n="84" d="100"/>
        </p:scale>
        <p:origin x="303" y="36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23A35-1FA6-84F9-C9C9-8EFD760A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7CDB01-A300-500A-E9FF-5021D5B21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90371-6E13-9BA6-3274-E7DFC0AA8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D689E-823E-FB48-22C9-BEE63C553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294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79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01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9E012-1B36-4DE0-7C82-2E9589BA5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C6FB8E-BEC4-6E75-0755-1B38247A31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C9F16-2946-0EC2-C4C5-C9CABEE46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92A05-2A49-CB2C-CED4-5700E49FB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917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872DA-02C1-657D-C31A-6572837D6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B7E859-73E6-62A4-41EB-5EC0B1C8A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4977A7-E83F-CF6D-3A0B-788BD75B59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FEFE2-83AB-BD26-DD33-E0A8685929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192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DE898-DE36-7398-EA6F-DB36182B2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D857C-A1EF-3597-4DBE-9F6591DE6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C6EF62-1D2B-B95C-C1C1-6C4DDC9C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E105E-9728-15FD-ABE2-79D08F183B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8166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D76D-2117-E9F3-ED68-33BB6FB84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39BCC-C7BA-C8A9-61EA-E1569028A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21573-511B-5D2E-D390-EA3B35448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2F28B-FC2F-44BE-CDE1-CEDCC429B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8796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237EE-FC27-DC25-7B51-417416E61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4408A-5C13-96A8-7BBF-BB0C8A2BC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5DB7D-40C0-93F3-64E1-75A4E17E2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0D5D86-07F5-D271-1C7D-25D77DBAE7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9034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84782-FE95-E3EC-AAF4-15727F8B0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88222-1989-D79E-A9B4-1FBCCC51B1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8953-8FD6-663A-7B72-57F1D7047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969C8-D4AD-5008-61EE-1BCFA343D5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14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431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CC7A2-8FCE-7BDA-ED2F-5802DAC98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78C42-C24A-E377-75C7-CD42FD1E0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86CA9-3ECA-890C-E2C9-7DC624339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6BA7D-506F-F995-8EAC-FE71F20F9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821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613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7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B889F-435F-37E0-39C1-1975F065F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DF492-1FEC-B725-937A-0CA701500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8697D3-E29F-3593-987D-D6C5A3E1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7F70B-5F30-3540-4D41-3F46324168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6904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3874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74E77-8F7F-C091-A6CD-F95913330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8D03-BCD3-2516-5A17-7890FD56F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3AAD0-5D1A-5384-531C-8A99D3C155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54F1F-92BA-AFB1-9D22-E7208D0FE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273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2816" y="457200"/>
            <a:ext cx="4837176" cy="1993392"/>
          </a:xfrm>
        </p:spPr>
        <p:txBody>
          <a:bodyPr anchor="b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B8CBAD6-FC79-B2BB-0B67-26429A6D4C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8882" y="0"/>
            <a:ext cx="6115050" cy="6858000"/>
          </a:xfrm>
          <a:prstGeom prst="parallelogram">
            <a:avLst/>
          </a:prstGeom>
          <a:ln>
            <a:noFill/>
          </a:ln>
        </p:spPr>
        <p:txBody>
          <a:bodyPr tIns="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2818" y="2752344"/>
            <a:ext cx="4837174" cy="31363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4796A3-781D-5244-DAB8-2D6EE0AC3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817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425" y="466344"/>
            <a:ext cx="6241651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11A5385-FB23-93A8-2B8F-9887244244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287838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242426" y="2286000"/>
            <a:ext cx="62416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77E27-B60E-C6DD-BAAF-5CCC3D59E5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964CA031-27E0-D0AA-1451-A904CCF234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199" y="2024781"/>
            <a:ext cx="5212079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81FE0D7D-86B7-CCD2-A7A1-70E95846B5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D2DE411-9D7C-15AE-0B59-F26B2BF8C52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2024781"/>
            <a:ext cx="2878394" cy="4137189"/>
          </a:xfrm>
        </p:spPr>
        <p:txBody>
          <a:bodyPr>
            <a:normAutofit/>
          </a:bodyPr>
          <a:lstStyle>
            <a:lvl1pPr marL="3429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eriod"/>
              <a:defRPr sz="1800">
                <a:latin typeface="+mn-lt"/>
              </a:defRPr>
            </a:lvl1pPr>
            <a:lvl2pPr marL="8001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eriod"/>
              <a:defRPr sz="1800">
                <a:latin typeface="+mn-lt"/>
              </a:defRPr>
            </a:lvl2pPr>
            <a:lvl3pPr marL="12573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arenR"/>
              <a:defRPr sz="1800">
                <a:latin typeface="+mn-lt"/>
              </a:defRPr>
            </a:lvl3pPr>
            <a:lvl4pPr marL="17145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arenR"/>
              <a:defRPr sz="1800">
                <a:latin typeface="+mn-lt"/>
              </a:defRPr>
            </a:lvl4pPr>
            <a:lvl5pPr marL="2057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60FEDE7C-502F-ECFE-4136-E99206849C2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</p:spPr>
        <p:txBody>
          <a:bodyPr anchor="b" anchorCtr="0">
            <a:no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5F30E2A0-23EF-51B1-8ABD-00429EEA06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8200" y="2257063"/>
            <a:ext cx="4894006" cy="390490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15552F-C66B-341F-2D37-0389710BA5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00938" y="-22225"/>
            <a:ext cx="4714875" cy="688022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8DCC6D-8B88-7BE0-7240-F743AE09E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814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9C3ED3BF-FF6B-07FA-72C4-F6102A8558A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96074" y="2106591"/>
            <a:ext cx="2067045" cy="3633787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6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4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4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2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83980" y="2106591"/>
            <a:ext cx="7869820" cy="4016713"/>
          </a:xfrm>
        </p:spPr>
        <p:txBody>
          <a:bodyPr/>
          <a:lstStyle/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524C1E0-92FE-D7D2-83A7-46D29A83887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38200" y="1790329"/>
            <a:ext cx="5134335" cy="411305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27E0367-8E38-8905-DC9A-D0C376A591A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9464" y="1790329"/>
            <a:ext cx="5134335" cy="411305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D847DE-29F2-8ABB-1718-34BED4F37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13186" y="2107800"/>
            <a:ext cx="10965628" cy="3920196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9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abstract image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alphaModFix amt="5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b="1" dirty="0">
                <a:latin typeface="Inconsolata" pitchFamily="49" charset="77"/>
                <a:ea typeface="Inconsolata" pitchFamily="49" charset="77"/>
              </a:rPr>
              <a:t>Principal component analysis (PCA) </a:t>
            </a:r>
            <a:br>
              <a:rPr lang="en-US" b="1" dirty="0">
                <a:latin typeface="Inconsolata" pitchFamily="49" charset="77"/>
                <a:ea typeface="Inconsolata" pitchFamily="49" charset="77"/>
              </a:rPr>
            </a:br>
            <a:r>
              <a:rPr lang="en-US" b="1" dirty="0">
                <a:latin typeface="Inconsolata" pitchFamily="49" charset="77"/>
                <a:ea typeface="Inconsolata" pitchFamily="49" charset="77"/>
              </a:rPr>
              <a:t>for </a:t>
            </a:r>
            <a:br>
              <a:rPr lang="en-US" b="1" dirty="0">
                <a:latin typeface="Inconsolata" pitchFamily="49" charset="77"/>
                <a:ea typeface="Inconsolata" pitchFamily="49" charset="77"/>
              </a:rPr>
            </a:br>
            <a:r>
              <a:rPr lang="en-US" b="1" dirty="0">
                <a:latin typeface="Inconsolata" pitchFamily="49" charset="77"/>
                <a:ea typeface="Inconsolata" pitchFamily="49" charset="77"/>
              </a:rPr>
              <a:t>facial recognition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D3487A-3641-BF17-67F1-83E039807E51}"/>
              </a:ext>
            </a:extLst>
          </p:cNvPr>
          <p:cNvSpPr txBox="1"/>
          <p:nvPr/>
        </p:nvSpPr>
        <p:spPr>
          <a:xfrm>
            <a:off x="281568" y="5186428"/>
            <a:ext cx="61833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Inconsolata" pitchFamily="49" charset="77"/>
                <a:ea typeface="Inconsolata" pitchFamily="49" charset="77"/>
              </a:rPr>
              <a:t>Mathematics for AI</a:t>
            </a:r>
            <a:br>
              <a:rPr lang="en-US" dirty="0">
                <a:solidFill>
                  <a:schemeClr val="bg1"/>
                </a:solidFill>
                <a:latin typeface="Inconsolata" pitchFamily="49" charset="77"/>
                <a:ea typeface="Inconsolata" pitchFamily="49" charset="77"/>
              </a:rPr>
            </a:br>
            <a:r>
              <a:rPr lang="en-US" dirty="0">
                <a:solidFill>
                  <a:schemeClr val="bg1"/>
                </a:solidFill>
                <a:latin typeface="Inconsolata" pitchFamily="49" charset="77"/>
                <a:ea typeface="Inconsolata" pitchFamily="49" charset="77"/>
              </a:rPr>
              <a:t>Group Presentation</a:t>
            </a:r>
          </a:p>
          <a:p>
            <a:endParaRPr lang="en-US" dirty="0">
              <a:solidFill>
                <a:schemeClr val="bg1"/>
              </a:solidFill>
              <a:latin typeface="Inconsolata" pitchFamily="49" charset="77"/>
              <a:ea typeface="Inconsolata" pitchFamily="49" charset="77"/>
            </a:endParaRPr>
          </a:p>
          <a:p>
            <a:r>
              <a:rPr lang="en-US" dirty="0">
                <a:solidFill>
                  <a:schemeClr val="bg1"/>
                </a:solidFill>
                <a:latin typeface="Inconsolata" pitchFamily="49" charset="77"/>
                <a:ea typeface="Inconsolata" pitchFamily="49" charset="77"/>
              </a:rPr>
              <a:t>Team Members: </a:t>
            </a:r>
            <a:r>
              <a:rPr lang="en-US" i="1" dirty="0">
                <a:solidFill>
                  <a:schemeClr val="bg1"/>
                </a:solidFill>
                <a:latin typeface="Inconsolata" pitchFamily="49" charset="77"/>
                <a:ea typeface="Inconsolata" pitchFamily="49" charset="77"/>
              </a:rPr>
              <a:t>Chong Zhi Zhen, Daniel Simmons, </a:t>
            </a:r>
          </a:p>
          <a:p>
            <a:r>
              <a:rPr lang="en-US" i="1" dirty="0">
                <a:solidFill>
                  <a:schemeClr val="bg1"/>
                </a:solidFill>
                <a:latin typeface="Inconsolata" pitchFamily="49" charset="77"/>
                <a:ea typeface="Inconsolata" pitchFamily="49" charset="77"/>
              </a:rPr>
              <a:t>Jorge </a:t>
            </a:r>
            <a:r>
              <a:rPr lang="en-US" i="1" dirty="0" err="1">
                <a:solidFill>
                  <a:schemeClr val="bg1"/>
                </a:solidFill>
                <a:latin typeface="Inconsolata" pitchFamily="49" charset="77"/>
                <a:ea typeface="Inconsolata" pitchFamily="49" charset="77"/>
              </a:rPr>
              <a:t>Apatiga</a:t>
            </a:r>
            <a:r>
              <a:rPr lang="en-US" i="1" dirty="0">
                <a:solidFill>
                  <a:schemeClr val="bg1"/>
                </a:solidFill>
                <a:latin typeface="Inconsolata" pitchFamily="49" charset="77"/>
                <a:ea typeface="Inconsolata" pitchFamily="49" charset="77"/>
              </a:rPr>
              <a:t>, Sagar Pratap Singh, Yang </a:t>
            </a:r>
            <a:r>
              <a:rPr lang="en-US" i="1" dirty="0" err="1">
                <a:solidFill>
                  <a:schemeClr val="bg1"/>
                </a:solidFill>
                <a:latin typeface="Inconsolata" pitchFamily="49" charset="77"/>
                <a:ea typeface="Inconsolata" pitchFamily="49" charset="77"/>
              </a:rPr>
              <a:t>Qingwei</a:t>
            </a:r>
            <a:endParaRPr lang="en-US" i="1" dirty="0">
              <a:solidFill>
                <a:schemeClr val="bg1"/>
              </a:solidFill>
              <a:latin typeface="Inconsolata" pitchFamily="49" charset="77"/>
              <a:ea typeface="Inconsolata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5C36-617B-795C-5A2B-325EA34F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AD706-11EF-C258-EBD5-C4EEFEAAC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2816" y="457200"/>
            <a:ext cx="4837176" cy="1993392"/>
          </a:xfrm>
          <a:noFill/>
        </p:spPr>
        <p:txBody>
          <a:bodyPr anchor="b">
            <a:noAutofit/>
          </a:bodyPr>
          <a:lstStyle/>
          <a:p>
            <a:r>
              <a:rPr lang="en-US" dirty="0"/>
              <a:t>AGENDA</a:t>
            </a:r>
          </a:p>
        </p:txBody>
      </p:sp>
      <p:pic>
        <p:nvPicPr>
          <p:cNvPr id="15" name="Picture Placeholder 14" descr="A group of people sitting around a table">
            <a:extLst>
              <a:ext uri="{FF2B5EF4-FFF2-40B4-BE49-F238E27FC236}">
                <a16:creationId xmlns:a16="http://schemas.microsoft.com/office/drawing/2014/main" id="{E4DF753A-3575-A0D9-5135-8A94308DC0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2"/>
          <a:stretch/>
        </p:blipFill>
        <p:spPr>
          <a:xfrm>
            <a:off x="-28882" y="0"/>
            <a:ext cx="6115050" cy="68580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EC4A8-49EE-CF82-CFDC-BA9308ED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818" y="2752344"/>
            <a:ext cx="4837174" cy="3136392"/>
          </a:xfrm>
          <a:noFill/>
        </p:spPr>
        <p:txBody>
          <a:bodyPr anchor="t"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Principal Component </a:t>
            </a:r>
            <a:r>
              <a:rPr lang="en-US" dirty="0" err="1"/>
              <a:t>ANAlysis</a:t>
            </a:r>
            <a:endParaRPr lang="en-US" dirty="0"/>
          </a:p>
          <a:p>
            <a:r>
              <a:rPr lang="en-US" dirty="0"/>
              <a:t>How PCA Learns from Face Space</a:t>
            </a:r>
          </a:p>
          <a:p>
            <a:r>
              <a:rPr lang="en-US" dirty="0"/>
              <a:t>Algorithm Explanation</a:t>
            </a:r>
          </a:p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67201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  <a:noFill/>
        </p:spPr>
        <p:txBody>
          <a:bodyPr anchor="ctr"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5FD2B-E3E5-1C2B-0151-21F216B14A3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5212079" cy="4137189"/>
          </a:xfrm>
          <a:noFill/>
        </p:spPr>
        <p:txBody>
          <a:bodyPr>
            <a:normAutofit/>
          </a:bodyPr>
          <a:lstStyle/>
          <a:p>
            <a:r>
              <a:rPr lang="en-US" dirty="0"/>
              <a:t>Facial recognition</a:t>
            </a:r>
          </a:p>
          <a:p>
            <a:r>
              <a:rPr lang="en-US" dirty="0"/>
              <a:t>Why </a:t>
            </a:r>
            <a:r>
              <a:rPr lang="en-US" dirty="0" err="1"/>
              <a:t>isit</a:t>
            </a:r>
            <a:r>
              <a:rPr lang="en-US" dirty="0"/>
              <a:t> important today? </a:t>
            </a:r>
            <a:r>
              <a:rPr lang="en-US" dirty="0">
                <a:sym typeface="Wingdings" panose="05000000000000000000" pitchFamily="2" charset="2"/>
              </a:rPr>
              <a:t> used in …</a:t>
            </a:r>
          </a:p>
          <a:p>
            <a:r>
              <a:rPr lang="en-US" dirty="0">
                <a:sym typeface="Wingdings" panose="05000000000000000000" pitchFamily="2" charset="2"/>
              </a:rPr>
              <a:t>We are going to explore the use of PCA for facial recognition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>
            <a:normAutofit/>
          </a:bodyPr>
          <a:lstStyle/>
          <a:p>
            <a:r>
              <a:rPr lang="en-US"/>
              <a:t>Effective body language enhances your message, making it more impactful and memorable:</a:t>
            </a:r>
          </a:p>
          <a:p>
            <a:pPr lvl="1"/>
            <a:r>
              <a:rPr lang="en-US"/>
              <a:t>Meaningful eye contact</a:t>
            </a:r>
          </a:p>
          <a:p>
            <a:pPr lvl="1"/>
            <a:r>
              <a:rPr lang="en-US"/>
              <a:t>Purposeful gestures</a:t>
            </a:r>
          </a:p>
          <a:p>
            <a:pPr lvl="1"/>
            <a:r>
              <a:rPr lang="en-US"/>
              <a:t>Maintain good posture</a:t>
            </a:r>
          </a:p>
          <a:p>
            <a:pPr lvl="1"/>
            <a:r>
              <a:rPr lang="en-US"/>
              <a:t>Control your expressions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AA2678-D2AD-6101-2A00-2289475AE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159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close up of computer code">
            <a:extLst>
              <a:ext uri="{FF2B5EF4-FFF2-40B4-BE49-F238E27FC236}">
                <a16:creationId xmlns:a16="http://schemas.microsoft.com/office/drawing/2014/main" id="{94D43AA7-0244-2FEB-86AC-B5DECE0232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F3FA79-DE26-1F2A-0CF7-5671B73C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>
                <a:latin typeface="Inconsolata" pitchFamily="49" charset="77"/>
                <a:ea typeface="Inconsolata" pitchFamily="49" charset="77"/>
              </a:rPr>
              <a:t>Principal component analysis (PCA)</a:t>
            </a:r>
          </a:p>
        </p:txBody>
      </p:sp>
    </p:spTree>
    <p:extLst>
      <p:ext uri="{BB962C8B-B14F-4D97-AF65-F5344CB8AC3E}">
        <p14:creationId xmlns:p14="http://schemas.microsoft.com/office/powerpoint/2010/main" val="467869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7B4F6-8982-8E59-B6A9-C563A33F8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5F7D9-0E67-C5CF-C40D-49A1902B9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  <a:noFill/>
        </p:spPr>
        <p:txBody>
          <a:bodyPr anchor="ctr"/>
          <a:lstStyle/>
          <a:p>
            <a:r>
              <a:rPr lang="en-US" dirty="0"/>
              <a:t>PCA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EF563-CCAC-F7B4-E34E-99D5D4230D8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5212079" cy="4137189"/>
          </a:xfrm>
          <a:noFill/>
        </p:spPr>
        <p:txBody>
          <a:bodyPr>
            <a:normAutofit/>
          </a:bodyPr>
          <a:lstStyle/>
          <a:p>
            <a:r>
              <a:rPr lang="en-US" dirty="0"/>
              <a:t>What does it do?</a:t>
            </a:r>
          </a:p>
          <a:p>
            <a:r>
              <a:rPr lang="en-US" dirty="0"/>
              <a:t>Can show the example from the data that Chen sent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934379-A837-B942-D5A4-E65E770654B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>
            <a:normAutofit/>
          </a:bodyPr>
          <a:lstStyle/>
          <a:p>
            <a:r>
              <a:rPr lang="en-US"/>
              <a:t>Effective body language enhances your message, making it more impactful and memorable:</a:t>
            </a:r>
          </a:p>
          <a:p>
            <a:pPr lvl="1"/>
            <a:r>
              <a:rPr lang="en-US"/>
              <a:t>Meaningful eye contact</a:t>
            </a:r>
          </a:p>
          <a:p>
            <a:pPr lvl="1"/>
            <a:r>
              <a:rPr lang="en-US"/>
              <a:t>Purposeful gestures</a:t>
            </a:r>
          </a:p>
          <a:p>
            <a:pPr lvl="1"/>
            <a:r>
              <a:rPr lang="en-US"/>
              <a:t>Maintain good posture</a:t>
            </a:r>
          </a:p>
          <a:p>
            <a:pPr lvl="1"/>
            <a:r>
              <a:rPr lang="en-US"/>
              <a:t>Control your expressions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A94C00-872A-65F5-004C-D2A74FB682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7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E1F1C-637A-E862-A63D-676B4BB13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732B3-2FF2-37EE-EC9B-EEBD054C7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  <a:noFill/>
        </p:spPr>
        <p:txBody>
          <a:bodyPr anchor="ctr"/>
          <a:lstStyle/>
          <a:p>
            <a:r>
              <a:rPr lang="en-US" dirty="0"/>
              <a:t>How PCA Learns from Face space?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83CDB-510D-B378-E9A0-2A4E3F4C2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5212079" cy="4137189"/>
          </a:xfrm>
          <a:noFill/>
        </p:spPr>
        <p:txBody>
          <a:bodyPr>
            <a:normAutofit fontScale="70000" lnSpcReduction="20000"/>
          </a:bodyPr>
          <a:lstStyle/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1. Convert each face image into a vector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Flatten a 2D image (e.g., 100×100 pixels → 10,000-dimensional vector)</a:t>
            </a: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Each face becomes a point in a very high-dimensional space</a:t>
            </a: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2. Build the data matrix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Stack all face vectors column-wise or row-wise</a:t>
            </a: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Each column = one face sample</a:t>
            </a: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3. Compute the mean face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Average all face vectors</a:t>
            </a: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Subtract this mean from every face vector → </a:t>
            </a:r>
            <a:r>
              <a:rPr lang="en-US" altLang="en-US" i="1" dirty="0">
                <a:latin typeface="Arial" panose="020B0604020202020204" pitchFamily="34" charset="0"/>
              </a:rPr>
              <a:t>center the data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4. Compute the covariance matrix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Measures how pixel intensities vary together across all training faces</a:t>
            </a: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Very large (10,000 × 10,000) matrix, so PCA uses a trick:</a:t>
            </a:r>
          </a:p>
          <a:p>
            <a:pPr marL="457200" lvl="1" indent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Compute a reduced covariance matrix from XTXX^T XXTX instead</a:t>
            </a: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5. Obtain eigenvalues and eigenvectors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Solve for eigenvectors of the covariance matrix</a:t>
            </a:r>
          </a:p>
          <a:p>
            <a:pPr lv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Each eigenvector = a direction of maximum variance in the dataset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1D8052-DD3C-C847-1DD0-C60B7CB3763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>
            <a:normAutofit fontScale="85000" lnSpcReduction="10000"/>
          </a:bodyPr>
          <a:lstStyle/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6. Select the top </a:t>
            </a:r>
            <a:r>
              <a:rPr lang="en-US" altLang="en-US" b="1" dirty="0" err="1">
                <a:latin typeface="Arial" panose="020B0604020202020204" pitchFamily="34" charset="0"/>
              </a:rPr>
              <a:t>kkk</a:t>
            </a:r>
            <a:r>
              <a:rPr lang="en-US" altLang="en-US" b="1" dirty="0">
                <a:latin typeface="Arial" panose="020B0604020202020204" pitchFamily="34" charset="0"/>
              </a:rPr>
              <a:t> eigenvectors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Sort eigenvectors by descending eigenvalues</a:t>
            </a: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The top </a:t>
            </a:r>
            <a:r>
              <a:rPr lang="en-US" altLang="en-US" dirty="0" err="1">
                <a:latin typeface="Arial" panose="020B0604020202020204" pitchFamily="34" charset="0"/>
              </a:rPr>
              <a:t>kkk</a:t>
            </a:r>
            <a:r>
              <a:rPr lang="en-US" altLang="en-US" dirty="0">
                <a:latin typeface="Arial" panose="020B0604020202020204" pitchFamily="34" charset="0"/>
              </a:rPr>
              <a:t> capture the most important variations among faces</a:t>
            </a: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These are called </a:t>
            </a:r>
            <a:r>
              <a:rPr lang="en-US" altLang="en-US" b="1" dirty="0">
                <a:latin typeface="Arial" panose="020B0604020202020204" pitchFamily="34" charset="0"/>
              </a:rPr>
              <a:t>Eigenfaces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7. Construct the “face space”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The selected eigenvectors form a new coordinate system</a:t>
            </a: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Any new face can be projected into this reduced subspace</a:t>
            </a: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8. Project faces onto this subspace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Multiply the centered face vector by the eigenface matrix</a:t>
            </a: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Result = a compact representation (feature vector)</a:t>
            </a: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9. Compare projected vectors for recognition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Distance between feature vectors indicates similarity</a:t>
            </a: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Closer projection → more likely to be the same identity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2C2713-AFFF-A08C-6ED9-19B6E1DBC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590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ABA3F-472B-D301-FDC6-C6648C3E9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close up of computer code">
            <a:extLst>
              <a:ext uri="{FF2B5EF4-FFF2-40B4-BE49-F238E27FC236}">
                <a16:creationId xmlns:a16="http://schemas.microsoft.com/office/drawing/2014/main" id="{10B04E6A-CECF-D514-EEE9-5A4496D5287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956EAE6-A0C1-FE86-DA33-D1082513F5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>
                <a:latin typeface="Inconsolata" pitchFamily="49" charset="77"/>
                <a:ea typeface="Inconsolata" pitchFamily="49" charset="77"/>
              </a:rPr>
              <a:t>Algorithm</a:t>
            </a:r>
          </a:p>
        </p:txBody>
      </p:sp>
    </p:spTree>
    <p:extLst>
      <p:ext uri="{BB962C8B-B14F-4D97-AF65-F5344CB8AC3E}">
        <p14:creationId xmlns:p14="http://schemas.microsoft.com/office/powerpoint/2010/main" val="16173357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EBE1-DDE9-6A9B-AA49-2E1F1991C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6E59C-9759-88F0-8A4B-8248CE061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  <a:noFill/>
        </p:spPr>
        <p:txBody>
          <a:bodyPr anchor="ctr"/>
          <a:lstStyle/>
          <a:p>
            <a:r>
              <a:rPr lang="en-US" dirty="0"/>
              <a:t>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B8484-942D-8F92-DC1B-FA0DAEA0B5E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5212079" cy="4137189"/>
          </a:xfrm>
          <a:noFill/>
        </p:spPr>
        <p:txBody>
          <a:bodyPr>
            <a:normAutofit/>
          </a:bodyPr>
          <a:lstStyle/>
          <a:p>
            <a:r>
              <a:rPr lang="en-US" dirty="0"/>
              <a:t>Explain step by step what our code does</a:t>
            </a:r>
          </a:p>
          <a:p>
            <a:r>
              <a:rPr lang="en-US" dirty="0"/>
              <a:t>(can do a flow chart for easier explanation)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4AA15B-85A7-A9B0-E220-4DB1422AD74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>
            <a:normAutofit/>
          </a:bodyPr>
          <a:lstStyle/>
          <a:p>
            <a:r>
              <a:rPr lang="en-US"/>
              <a:t>Effective body language enhances your message, making it more impactful and memorable:</a:t>
            </a:r>
          </a:p>
          <a:p>
            <a:pPr lvl="1"/>
            <a:r>
              <a:rPr lang="en-US"/>
              <a:t>Meaningful eye contact</a:t>
            </a:r>
          </a:p>
          <a:p>
            <a:pPr lvl="1"/>
            <a:r>
              <a:rPr lang="en-US"/>
              <a:t>Purposeful gestures</a:t>
            </a:r>
          </a:p>
          <a:p>
            <a:pPr lvl="1"/>
            <a:r>
              <a:rPr lang="en-US"/>
              <a:t>Maintain good posture</a:t>
            </a:r>
          </a:p>
          <a:p>
            <a:pPr lvl="1"/>
            <a:r>
              <a:rPr lang="en-US"/>
              <a:t>Control your expressions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AA4DC3-7EA6-1B27-72B1-D55C851155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7611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F8B8B-A349-D5EE-8B52-E42955FB2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50C77-03B1-F9C6-75CF-366F04780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  <a:noFill/>
        </p:spPr>
        <p:txBody>
          <a:bodyPr anchor="ctr"/>
          <a:lstStyle/>
          <a:p>
            <a:r>
              <a:rPr lang="en-US" dirty="0"/>
              <a:t>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718DA-E4C1-93B8-8FAE-8D3CB8D57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5212079" cy="4137189"/>
          </a:xfrm>
          <a:noFill/>
        </p:spPr>
        <p:txBody>
          <a:bodyPr>
            <a:normAutofit/>
          </a:bodyPr>
          <a:lstStyle/>
          <a:p>
            <a:r>
              <a:rPr lang="en-US" dirty="0"/>
              <a:t>This can show some results</a:t>
            </a:r>
          </a:p>
          <a:p>
            <a:r>
              <a:rPr lang="en-US" dirty="0"/>
              <a:t>(can exclude if we confident in the demo)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CF5F5-25E1-DBDE-B475-3460EAB7E68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>
            <a:normAutofit/>
          </a:bodyPr>
          <a:lstStyle/>
          <a:p>
            <a:r>
              <a:rPr lang="en-US"/>
              <a:t>Effective body language enhances your message, making it more impactful and memorable:</a:t>
            </a:r>
          </a:p>
          <a:p>
            <a:pPr lvl="1"/>
            <a:r>
              <a:rPr lang="en-US"/>
              <a:t>Meaningful eye contact</a:t>
            </a:r>
          </a:p>
          <a:p>
            <a:pPr lvl="1"/>
            <a:r>
              <a:rPr lang="en-US"/>
              <a:t>Purposeful gestures</a:t>
            </a:r>
          </a:p>
          <a:p>
            <a:pPr lvl="1"/>
            <a:r>
              <a:rPr lang="en-US"/>
              <a:t>Maintain good posture</a:t>
            </a:r>
          </a:p>
          <a:p>
            <a:pPr lvl="1"/>
            <a:r>
              <a:rPr lang="en-US"/>
              <a:t>Control your expressions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02BF53-323D-40A6-3901-71FAA4BF33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03525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186EC-D6FA-2D51-3E82-F8DFF5FDE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close up of computer code">
            <a:extLst>
              <a:ext uri="{FF2B5EF4-FFF2-40B4-BE49-F238E27FC236}">
                <a16:creationId xmlns:a16="http://schemas.microsoft.com/office/drawing/2014/main" id="{61A67B3B-8569-9F2E-A02C-EB4E96B994D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2EDD818-CA75-7673-9611-9796673890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>
                <a:latin typeface="Inconsolata" pitchFamily="49" charset="77"/>
                <a:ea typeface="Inconsolata" pitchFamily="49" charset="77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172334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6" y="3052046"/>
            <a:ext cx="9467127" cy="753908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43000"/>
            <a:ext cx="9144000" cy="2286000"/>
          </a:xfrm>
          <a:noFill/>
        </p:spPr>
        <p:txBody>
          <a:bodyPr/>
          <a:lstStyle/>
          <a:p>
            <a:r>
              <a:rPr lang="en-US" dirty="0"/>
              <a:t>Quick recap: what is </a:t>
            </a:r>
            <a:r>
              <a:rPr lang="en-US" dirty="0" err="1"/>
              <a:t>pca</a:t>
            </a:r>
            <a:endParaRPr lang="en-US" dirty="0"/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A336FEA9-C85A-3569-16F0-5ECBABBE0B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35198"/>
            <a:ext cx="9144000" cy="683219"/>
          </a:xfrm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67993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7B69FE-ED99-AB3D-8234-226F74C6B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FF24A-F1A7-35D7-397B-F099E898A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  <a:noFill/>
        </p:spPr>
        <p:txBody>
          <a:bodyPr anchor="ctr"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0A257-F888-FBA1-AE10-FEB6400E366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5212079" cy="4137189"/>
          </a:xfrm>
          <a:noFill/>
        </p:spPr>
        <p:txBody>
          <a:bodyPr>
            <a:normAutofit/>
          </a:bodyPr>
          <a:lstStyle/>
          <a:p>
            <a:r>
              <a:rPr lang="en-US"/>
              <a:t>This is a powerful tool in public speaking. It involves varying pitch, tone, and volume to convey emotion, emphasize points, and maintain interest:</a:t>
            </a:r>
          </a:p>
          <a:p>
            <a:pPr lvl="1"/>
            <a:r>
              <a:rPr lang="en-US"/>
              <a:t>Pitch variation</a:t>
            </a:r>
          </a:p>
          <a:p>
            <a:pPr lvl="1"/>
            <a:r>
              <a:rPr lang="en-US"/>
              <a:t>Tone inflection</a:t>
            </a:r>
          </a:p>
          <a:p>
            <a:pPr lvl="1"/>
            <a:r>
              <a:rPr lang="en-US"/>
              <a:t>Volume control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B18791-9D56-9848-3D79-A4C10DF66A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>
            <a:normAutofit/>
          </a:bodyPr>
          <a:lstStyle/>
          <a:p>
            <a:r>
              <a:rPr lang="en-US"/>
              <a:t>Effective body language enhances your message, making it more impactful and memorable:</a:t>
            </a:r>
          </a:p>
          <a:p>
            <a:pPr lvl="1"/>
            <a:r>
              <a:rPr lang="en-US"/>
              <a:t>Meaningful eye contact</a:t>
            </a:r>
          </a:p>
          <a:p>
            <a:pPr lvl="1"/>
            <a:r>
              <a:rPr lang="en-US"/>
              <a:t>Purposeful gestures</a:t>
            </a:r>
          </a:p>
          <a:p>
            <a:pPr lvl="1"/>
            <a:r>
              <a:rPr lang="en-US"/>
              <a:t>Maintain good posture</a:t>
            </a:r>
          </a:p>
          <a:p>
            <a:pPr lvl="1"/>
            <a:r>
              <a:rPr lang="en-US"/>
              <a:t>Control your expressions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5436F7-58CA-BA2E-AD13-748AF1047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55894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  <a:noFill/>
        </p:spPr>
        <p:txBody>
          <a:bodyPr anchor="ctr"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52" name="Content Placeholder 51">
            <a:extLst>
              <a:ext uri="{FF2B5EF4-FFF2-40B4-BE49-F238E27FC236}">
                <a16:creationId xmlns:a16="http://schemas.microsoft.com/office/drawing/2014/main" id="{F2CCE123-860F-8623-781F-12CEA66980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2024781"/>
            <a:ext cx="2878394" cy="4137189"/>
          </a:xfrm>
        </p:spPr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302BFD-960F-CBB3-E984-CDC12813A1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0227B8-A24C-8C29-034A-D7700B887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  <a:noFill/>
        </p:spPr>
        <p:txBody>
          <a:bodyPr anchor="ctr">
            <a:noAutofit/>
          </a:bodyPr>
          <a:lstStyle/>
          <a:p>
            <a:r>
              <a:rPr lang="en-US" dirty="0"/>
              <a:t>Dynamic delivery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96074" y="2106591"/>
            <a:ext cx="2067045" cy="3633787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3" name="Table Placeholder 2">
            <a:extLst>
              <a:ext uri="{FF2B5EF4-FFF2-40B4-BE49-F238E27FC236}">
                <a16:creationId xmlns:a16="http://schemas.microsoft.com/office/drawing/2014/main" id="{F01CF5D3-D3B1-1944-CFDF-D8EE11DE42AA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2834757309"/>
              </p:ext>
            </p:extLst>
          </p:nvPr>
        </p:nvGraphicFramePr>
        <p:xfrm>
          <a:off x="3484563" y="2106613"/>
          <a:ext cx="7921828" cy="403233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80457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980457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980457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980457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612591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612591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612591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612591"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612591"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782030"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B155A20-11B0-569E-90E8-E65A5FBCF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close up of computer code">
            <a:extLst>
              <a:ext uri="{FF2B5EF4-FFF2-40B4-BE49-F238E27FC236}">
                <a16:creationId xmlns:a16="http://schemas.microsoft.com/office/drawing/2014/main" id="{DC5DAD4B-44B7-6E3A-1DA1-F60524EFF6C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138A4238-E6E8-AA61-3C7B-E264FC0AC2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>
                <a:latin typeface="Inconsolata" pitchFamily="49" charset="77"/>
                <a:ea typeface="Inconsolata" pitchFamily="49" charset="77"/>
              </a:rPr>
              <a:t>Face recognition demo: </a:t>
            </a:r>
            <a:br>
              <a:rPr lang="en-US" dirty="0">
                <a:latin typeface="Inconsolata" pitchFamily="49" charset="77"/>
                <a:ea typeface="Inconsolata" pitchFamily="49" charset="77"/>
              </a:rPr>
            </a:br>
            <a:r>
              <a:rPr lang="en-US" dirty="0" err="1">
                <a:latin typeface="Inconsolata" pitchFamily="49" charset="77"/>
                <a:ea typeface="Inconsolata" pitchFamily="49" charset="77"/>
              </a:rPr>
              <a:t>Pca</a:t>
            </a:r>
            <a:r>
              <a:rPr lang="en-US" dirty="0">
                <a:latin typeface="Inconsolata" pitchFamily="49" charset="77"/>
                <a:ea typeface="Inconsolata" pitchFamily="49" charset="77"/>
              </a:rPr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5927847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  <a:noFill/>
        </p:spPr>
        <p:txBody>
          <a:bodyPr anchor="ctr"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48542-FCE1-3AE6-C6C9-17975609DF7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8200" y="1790329"/>
            <a:ext cx="5134335" cy="4113054"/>
          </a:xfrm>
          <a:noFill/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  <a:p>
            <a:pPr lvl="1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67564-0457-E486-97D0-8109D2C97B3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19464" y="1790329"/>
            <a:ext cx="5134335" cy="4113054"/>
          </a:xfrm>
          <a:noFill/>
        </p:spPr>
        <p:txBody>
          <a:bodyPr>
            <a:normAutofit/>
          </a:bodyPr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E39F69-A1C6-AF25-B91E-7EEE8ED9E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59DA972-BD3A-3DCD-81F1-7AF161F58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0FE33-53A6-E75A-9BA0-8B7B1BFDD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</p:spPr>
        <p:txBody>
          <a:bodyPr anchor="ctr"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12" name="Table Placeholder 3">
            <a:extLst>
              <a:ext uri="{FF2B5EF4-FFF2-40B4-BE49-F238E27FC236}">
                <a16:creationId xmlns:a16="http://schemas.microsoft.com/office/drawing/2014/main" id="{CB65501E-A327-D358-9D08-A3694677266E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2069353899"/>
              </p:ext>
            </p:extLst>
          </p:nvPr>
        </p:nvGraphicFramePr>
        <p:xfrm>
          <a:off x="612775" y="2108200"/>
          <a:ext cx="10972800" cy="392019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5336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5336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5336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5336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5336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5336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369127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18</TotalTime>
  <Words>779</Words>
  <Application>Microsoft Office PowerPoint</Application>
  <PresentationFormat>Widescreen</PresentationFormat>
  <Paragraphs>181</Paragraphs>
  <Slides>18</Slides>
  <Notes>16</Notes>
  <HiddenSlides>7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Inconsolata</vt:lpstr>
      <vt:lpstr>Wingdings</vt:lpstr>
      <vt:lpstr>Custom</vt:lpstr>
      <vt:lpstr>Principal component analysis (PCA)  for  facial recognition</vt:lpstr>
      <vt:lpstr>AGENDA</vt:lpstr>
      <vt:lpstr>Introduction</vt:lpstr>
      <vt:lpstr>Principal component analysis (PCA)</vt:lpstr>
      <vt:lpstr>PCA</vt:lpstr>
      <vt:lpstr>How PCA Learns from Face space?</vt:lpstr>
      <vt:lpstr>Algorithm</vt:lpstr>
      <vt:lpstr>Algorithm</vt:lpstr>
      <vt:lpstr>Algorithm</vt:lpstr>
      <vt:lpstr>Demo</vt:lpstr>
      <vt:lpstr>THANK YOU</vt:lpstr>
      <vt:lpstr>Quick recap: what is pca</vt:lpstr>
      <vt:lpstr>PowerPoint Presentation</vt:lpstr>
      <vt:lpstr>NAVIGATING Q&amp;A SESSIONS</vt:lpstr>
      <vt:lpstr>Dynamic delivery</vt:lpstr>
      <vt:lpstr>Face recognition demo:  Pca in action</vt:lpstr>
      <vt:lpstr>FINAL TIPS &amp; TAKEAWAYS</vt:lpstr>
      <vt:lpstr>SPEAKING ENGAGEMENT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MSTR - Sagar Pratap Singh</dc:creator>
  <cp:lastModifiedBy>Daniel Simmonds</cp:lastModifiedBy>
  <cp:revision>3</cp:revision>
  <dcterms:created xsi:type="dcterms:W3CDTF">2025-11-17T02:18:24Z</dcterms:created>
  <dcterms:modified xsi:type="dcterms:W3CDTF">2025-11-17T15:19:09Z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